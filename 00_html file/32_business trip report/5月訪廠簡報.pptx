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5月訪廠行程總結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651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0FA3B1"/>
                </a:solidFill>
              </a:defRPr>
            </a:pPr>
            <a:r>
              <a:t>品質管理現場確認 &amp; 問題改善跟進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F5F7FA"/>
                </a:solidFill>
              </a:defRPr>
            </a:pPr>
            <a:r>
              <a:t>2026年5月18日 - 5月28日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5F"/>
                </a:solidFill>
              </a:defRPr>
            </a:pPr>
            <a:r>
              <a:t>訪廠地點分佈 &amp; 統計概況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4389120" cy="3840480"/>
          </a:xfrm>
          <a:prstGeom prst="rect">
            <a:avLst/>
          </a:prstGeom>
          <a:solidFill>
            <a:srgbClr val="F5F7FA"/>
          </a:solidFill>
          <a:ln w="25400">
            <a:solidFill>
              <a:srgbClr val="0FA3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4023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3A5F"/>
                </a:solidFill>
              </a:defRPr>
            </a:pPr>
            <a:r>
              <a:t>浙江訪廠地點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53312"/>
            <a:ext cx="274320" cy="274320"/>
          </a:xfrm>
          <a:prstGeom prst="rect">
            <a:avLst/>
          </a:prstGeom>
          <a:solidFill>
            <a:srgbClr val="0FA3B1"/>
          </a:solidFill>
          <a:ln>
            <a:solidFill>
              <a:srgbClr val="0FA3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53312"/>
            <a:ext cx="2743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嘉興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371600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C3E50"/>
                </a:solidFill>
              </a:defRPr>
            </a:pPr>
            <a:r>
              <a:t>帛冠 (1次)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810512"/>
            <a:ext cx="274320" cy="274320"/>
          </a:xfrm>
          <a:prstGeom prst="rect">
            <a:avLst/>
          </a:prstGeom>
          <a:solidFill>
            <a:srgbClr val="0FA3B1"/>
          </a:solidFill>
          <a:ln>
            <a:solidFill>
              <a:srgbClr val="0FA3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810512"/>
            <a:ext cx="2743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紹興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828800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C3E50"/>
                </a:solidFill>
              </a:defRPr>
            </a:pPr>
            <a:r>
              <a:t>金祥惠、賀順、漢帛 (3次)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267712"/>
            <a:ext cx="274320" cy="274320"/>
          </a:xfrm>
          <a:prstGeom prst="rect">
            <a:avLst/>
          </a:prstGeom>
          <a:solidFill>
            <a:srgbClr val="0FA3B1"/>
          </a:solidFill>
          <a:ln>
            <a:solidFill>
              <a:srgbClr val="0FA3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267712"/>
            <a:ext cx="2743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蕭山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286000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C3E50"/>
                </a:solidFill>
              </a:defRPr>
            </a:pPr>
            <a:r>
              <a:t>ARCH (1次)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2724912"/>
            <a:ext cx="274320" cy="274320"/>
          </a:xfrm>
          <a:prstGeom prst="rect">
            <a:avLst/>
          </a:prstGeom>
          <a:solidFill>
            <a:srgbClr val="0FA3B1"/>
          </a:solidFill>
          <a:ln>
            <a:solidFill>
              <a:srgbClr val="0FA3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724912"/>
            <a:ext cx="2743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張家港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2743200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C3E50"/>
                </a:solidFill>
              </a:defRPr>
            </a:pPr>
            <a:r>
              <a:t>漢帛、PARADISE (2次)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182112"/>
            <a:ext cx="274320" cy="274320"/>
          </a:xfrm>
          <a:prstGeom prst="rect">
            <a:avLst/>
          </a:prstGeom>
          <a:solidFill>
            <a:srgbClr val="0FA3B1"/>
          </a:solidFill>
          <a:ln>
            <a:solidFill>
              <a:srgbClr val="0FA3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182112"/>
            <a:ext cx="2743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常熟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3200400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C3E50"/>
                </a:solidFill>
              </a:defRPr>
            </a:pPr>
            <a:r>
              <a:t>東奕盛 (1次)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3639311"/>
            <a:ext cx="274320" cy="274320"/>
          </a:xfrm>
          <a:prstGeom prst="rect">
            <a:avLst/>
          </a:prstGeom>
          <a:solidFill>
            <a:srgbClr val="0FA3B1"/>
          </a:solidFill>
          <a:ln>
            <a:solidFill>
              <a:srgbClr val="0FA3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639311"/>
            <a:ext cx="2743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上海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3657599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C3E50"/>
                </a:solidFill>
              </a:defRPr>
            </a:pPr>
            <a:r>
              <a:t>滬辦 (1次)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212080" y="1097280"/>
            <a:ext cx="3474720" cy="731520"/>
          </a:xfrm>
          <a:prstGeom prst="rect">
            <a:avLst/>
          </a:prstGeom>
          <a:solidFill>
            <a:srgbClr val="F5F7FA"/>
          </a:solidFill>
          <a:ln w="12700">
            <a:solidFill>
              <a:srgbClr val="0FA3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49240" y="1188720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3A5F"/>
                </a:solidFill>
              </a:defRPr>
            </a:pPr>
            <a:r>
              <a:t>訪廠總次數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49240" y="1417319"/>
            <a:ext cx="32004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0FA3B1"/>
                </a:solidFill>
              </a:defRPr>
            </a:pPr>
            <a:r>
              <a:t>8次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212080" y="1965960"/>
            <a:ext cx="3474720" cy="731520"/>
          </a:xfrm>
          <a:prstGeom prst="rect">
            <a:avLst/>
          </a:prstGeom>
          <a:solidFill>
            <a:srgbClr val="F5F7FA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49240" y="2057400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3A5F"/>
                </a:solidFill>
              </a:defRPr>
            </a:pPr>
            <a:r>
              <a:t>涉及地點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49240" y="2286000"/>
            <a:ext cx="32004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27AE60"/>
                </a:solidFill>
              </a:defRPr>
            </a:pPr>
            <a:r>
              <a:t>6個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212080" y="2834639"/>
            <a:ext cx="3474720" cy="731520"/>
          </a:xfrm>
          <a:prstGeom prst="rect">
            <a:avLst/>
          </a:prstGeom>
          <a:solidFill>
            <a:srgbClr val="F5F7FA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49240" y="2926079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3A5F"/>
                </a:solidFill>
              </a:defRPr>
            </a:pPr>
            <a:r>
              <a:t>涉及廠商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49240" y="3154679"/>
            <a:ext cx="32004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E74C3C"/>
                </a:solidFill>
              </a:defRPr>
            </a:pPr>
            <a:r>
              <a:t>7家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212080" y="3703320"/>
            <a:ext cx="3474720" cy="731520"/>
          </a:xfrm>
          <a:prstGeom prst="rect">
            <a:avLst/>
          </a:prstGeom>
          <a:solidFill>
            <a:srgbClr val="F5F7FA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49240" y="3794759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3A5F"/>
                </a:solidFill>
              </a:defRPr>
            </a:pPr>
            <a:r>
              <a:t>客戶品牌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49240" y="4023359"/>
            <a:ext cx="32004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E67E22"/>
                </a:solidFill>
              </a:defRPr>
            </a:pPr>
            <a:r>
              <a:t>6個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3A5F"/>
                </a:solidFill>
              </a:defRPr>
            </a:pPr>
            <a:r>
              <a:t>關鍵問題與改善進度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2743200" cy="457200"/>
          </a:xfrm>
          <a:prstGeom prst="rect">
            <a:avLst/>
          </a:prstGeom>
          <a:solidFill>
            <a:srgbClr val="27AE60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2743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 完全改善: 5項</a:t>
            </a:r>
          </a:p>
        </p:txBody>
      </p:sp>
      <p:sp>
        <p:nvSpPr>
          <p:cNvPr id="5" name="Rectangle 4"/>
          <p:cNvSpPr/>
          <p:nvPr/>
        </p:nvSpPr>
        <p:spPr>
          <a:xfrm>
            <a:off x="3383280" y="868680"/>
            <a:ext cx="2743200" cy="457200"/>
          </a:xfrm>
          <a:prstGeom prst="rect">
            <a:avLst/>
          </a:prstGeom>
          <a:solidFill>
            <a:srgbClr val="E67E22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383280" y="868680"/>
            <a:ext cx="2743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◐ 部分改善: 2項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868680"/>
            <a:ext cx="2743200" cy="457200"/>
          </a:xfrm>
          <a:prstGeom prst="rect">
            <a:avLst/>
          </a:prstGeom>
          <a:solidFill>
            <a:srgbClr val="0FA3B1"/>
          </a:solidFill>
          <a:ln>
            <a:solidFill>
              <a:srgbClr val="0FA3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868680"/>
            <a:ext cx="27432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● 確認標準: 1項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508760"/>
            <a:ext cx="8229600" cy="384048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554480"/>
            <a:ext cx="10972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000" b="1">
                <a:solidFill>
                  <a:srgbClr val="1E3A5F"/>
                </a:solidFill>
              </a:defRPr>
            </a:pPr>
            <a:r>
              <a:t>帛冠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1554480"/>
            <a:ext cx="20116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000">
                <a:solidFill>
                  <a:srgbClr val="2C3E50"/>
                </a:solidFill>
              </a:defRPr>
            </a:pPr>
            <a:r>
              <a:t>克重偏輕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1554480"/>
            <a:ext cx="137160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900" b="1">
                <a:solidFill>
                  <a:srgbClr val="27AE60"/>
                </a:solidFill>
              </a:defRPr>
            </a:pPr>
            <a:r>
              <a:t>✓ 已改善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1554480"/>
            <a:ext cx="32004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800">
                <a:solidFill>
                  <a:srgbClr val="555555"/>
                </a:solidFill>
              </a:defRPr>
            </a:pPr>
            <a:r>
              <a:t>胚布克重已加重，成品重在訂單規格允收內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938528"/>
            <a:ext cx="8229600" cy="384048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1984248"/>
            <a:ext cx="10972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000" b="1">
                <a:solidFill>
                  <a:srgbClr val="1E3A5F"/>
                </a:solidFill>
              </a:defRPr>
            </a:pPr>
            <a:r>
              <a:t>金祥惠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1984248"/>
            <a:ext cx="20116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000">
                <a:solidFill>
                  <a:srgbClr val="2C3E50"/>
                </a:solidFill>
              </a:defRPr>
            </a:pPr>
            <a:r>
              <a:t>布邊布紋歪斜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1984248"/>
            <a:ext cx="137160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900" b="1">
                <a:solidFill>
                  <a:srgbClr val="27AE60"/>
                </a:solidFill>
              </a:defRPr>
            </a:pPr>
            <a:r>
              <a:t>✓ 已改善方案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80" y="1984248"/>
            <a:ext cx="32004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800">
                <a:solidFill>
                  <a:srgbClr val="555555"/>
                </a:solidFill>
              </a:defRPr>
            </a:pPr>
            <a:r>
              <a:t>問題大貨以窄幅方式補損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368296"/>
            <a:ext cx="8229600" cy="384048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2414015"/>
            <a:ext cx="10972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000" b="1">
                <a:solidFill>
                  <a:srgbClr val="1E3A5F"/>
                </a:solidFill>
              </a:defRPr>
            </a:pPr>
            <a:r>
              <a:t>ARCH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2414015"/>
            <a:ext cx="20116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000">
                <a:solidFill>
                  <a:srgbClr val="2C3E50"/>
                </a:solidFill>
              </a:defRPr>
            </a:pPr>
            <a:r>
              <a:t>換片率高/色差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31920" y="2414015"/>
            <a:ext cx="137160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900" b="1">
                <a:solidFill>
                  <a:srgbClr val="27AE60"/>
                </a:solidFill>
              </a:defRPr>
            </a:pPr>
            <a:r>
              <a:t>✓ 已建立流程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40680" y="2414015"/>
            <a:ext cx="32004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800">
                <a:solidFill>
                  <a:srgbClr val="555555"/>
                </a:solidFill>
              </a:defRPr>
            </a:pPr>
            <a:r>
              <a:t>正反面品檢流程已建立，問題可控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2798063"/>
            <a:ext cx="8229600" cy="384048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2843783"/>
            <a:ext cx="10972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000" b="1">
                <a:solidFill>
                  <a:srgbClr val="1E3A5F"/>
                </a:solidFill>
              </a:defRPr>
            </a:pPr>
            <a:r>
              <a:t>賀順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28800" y="2843783"/>
            <a:ext cx="20116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000">
                <a:solidFill>
                  <a:srgbClr val="2C3E50"/>
                </a:solidFill>
              </a:defRPr>
            </a:pPr>
            <a:r>
              <a:t>勾紗/孔洞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31920" y="2843783"/>
            <a:ext cx="137160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900" b="1">
                <a:solidFill>
                  <a:srgbClr val="27AE60"/>
                </a:solidFill>
              </a:defRPr>
            </a:pPr>
            <a:r>
              <a:t>✓ 已改善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40680" y="2843783"/>
            <a:ext cx="32004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800">
                <a:solidFill>
                  <a:srgbClr val="555555"/>
                </a:solidFill>
              </a:defRPr>
            </a:pPr>
            <a:r>
              <a:t>問題已改善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227831"/>
            <a:ext cx="8229600" cy="384048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3273551"/>
            <a:ext cx="10972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000" b="1">
                <a:solidFill>
                  <a:srgbClr val="1E3A5F"/>
                </a:solidFill>
              </a:defRPr>
            </a:pPr>
            <a:r>
              <a:t>漢帛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28800" y="3273551"/>
            <a:ext cx="20116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000">
                <a:solidFill>
                  <a:srgbClr val="2C3E50"/>
                </a:solidFill>
              </a:defRPr>
            </a:pPr>
            <a:r>
              <a:t>布頭壓痕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31920" y="3273551"/>
            <a:ext cx="137160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900" b="1">
                <a:solidFill>
                  <a:srgbClr val="27AE60"/>
                </a:solidFill>
              </a:defRPr>
            </a:pPr>
            <a:r>
              <a:t>✓ 已改善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40680" y="3273551"/>
            <a:ext cx="32004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800">
                <a:solidFill>
                  <a:srgbClr val="555555"/>
                </a:solidFill>
              </a:defRPr>
            </a:pPr>
            <a:r>
              <a:t>包裝方式已改善，後續追蹤到廠情況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3657599"/>
            <a:ext cx="8229600" cy="384048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3703319"/>
            <a:ext cx="10972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000" b="1">
                <a:solidFill>
                  <a:srgbClr val="1E3A5F"/>
                </a:solidFill>
              </a:defRPr>
            </a:pPr>
            <a:r>
              <a:t>漢帛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828800" y="3703319"/>
            <a:ext cx="20116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000">
                <a:solidFill>
                  <a:srgbClr val="2C3E50"/>
                </a:solidFill>
              </a:defRPr>
            </a:pPr>
            <a:r>
              <a:t>破洞/斷紗/皺褶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931920" y="3703319"/>
            <a:ext cx="137160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900" b="1">
                <a:solidFill>
                  <a:srgbClr val="E67E22"/>
                </a:solidFill>
              </a:defRPr>
            </a:pPr>
            <a:r>
              <a:t>◐ 部分改善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40680" y="3703319"/>
            <a:ext cx="32004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800">
                <a:solidFill>
                  <a:srgbClr val="555555"/>
                </a:solidFill>
              </a:defRPr>
            </a:pPr>
            <a:r>
              <a:t>皺褶問題有改善，與客人討論接受標準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4087367"/>
            <a:ext cx="8229600" cy="384048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4133087"/>
            <a:ext cx="10972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000" b="1">
                <a:solidFill>
                  <a:srgbClr val="1E3A5F"/>
                </a:solidFill>
              </a:defRPr>
            </a:pPr>
            <a:r>
              <a:t>東奕盛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4133087"/>
            <a:ext cx="20116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000">
                <a:solidFill>
                  <a:srgbClr val="2C3E50"/>
                </a:solidFill>
              </a:defRPr>
            </a:pPr>
            <a:r>
              <a:t>緯斜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931920" y="4133087"/>
            <a:ext cx="137160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900" b="1">
                <a:solidFill>
                  <a:srgbClr val="0FA3B1"/>
                </a:solidFill>
              </a:defRPr>
            </a:pPr>
            <a:r>
              <a:t>✓ 已確認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40680" y="4133087"/>
            <a:ext cx="32004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800">
                <a:solidFill>
                  <a:srgbClr val="555555"/>
                </a:solidFill>
              </a:defRPr>
            </a:pPr>
            <a:r>
              <a:t>標準為3%，緯弧標準為1.5%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4617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i="1">
                <a:solidFill>
                  <a:srgbClr val="2C3E50"/>
                </a:solidFill>
              </a:defRPr>
            </a:pPr>
            <a:r>
              <a:t>總結：8次訪廠共確認8個品質議題，其中62.5%已完全改善，25%部分改善，確認標準流程1項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